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</ns0:sldIdLst>
  <ns0:sldSz cx="12192000" cy="6858000" type="screen4x3"/>
  <ns0:notesSz cx="6858000" cy="9144000"/>
  <ns0:embeddedFontLst>
    <ns0:embeddedFont>
      <ns0:font typeface="Plus Jakarta Sans"/>
      <ns0:bold ns1:id="rIdFont14"/>
      <ns0:regular ns1:id="rIdFont1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Font14" Type="http://schemas.openxmlformats.org/officeDocument/2006/relationships/font" Target="fonts/b0b19420-5b9c-4e6b-a2b9-37ea7fb02629.fntdata" /><ns0:Relationship Id="rIdFont15" Type="http://schemas.openxmlformats.org/officeDocument/2006/relationships/font" Target="fonts/e2dd652b-2dd3-4b4a-858a-9e3ee2633e98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08140"/>
            <a:ext cx="10972800" cy="723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754534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40814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33625" y="4774852"/>
            <a:ext cx="9525" cy="3048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86425" y="4774852"/>
            <a:ext cx="9525" cy="3048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126009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Executive Summary: Taxi Fare Evaluation by Payment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455640"/>
            <a:ext cx="723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Inferential hypothesis testing on the average fare difference between credit card and cash payments in NYC yellow taxis.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725959"/>
            <a:ext cx="51315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0A5FA"/>
                </a:solidFill>
                <a:latin typeface="Plus Jakarta Sans"/>
              </a:rPr>
              <a:t>AUTOMATIDATA PROJECT • STATISTICAL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722465"/>
            <a:ext cx="17740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932015"/>
            <a:ext cx="17740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PACE 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7950" y="4722465"/>
            <a:ext cx="3417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PRIMARY FINDING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7950" y="4932015"/>
            <a:ext cx="3417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4D399"/>
                </a:solidFill>
                <a:latin typeface="Plus Jakarta Sans"/>
              </a:rPr>
              <a:t>Significant Difference of +$1.22 / trip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0750" y="4722465"/>
            <a:ext cx="25836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STATISTICAL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0750" y="4932015"/>
            <a:ext cx="2583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Welch's t-test (p = 0.0000)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66850"/>
            <a:ext cx="3505200" cy="4857750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1466850"/>
            <a:ext cx="3505200" cy="4857750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1466850"/>
            <a:ext cx="3505200" cy="4857750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781175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178117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178117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1905000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1550" y="1905000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5350" y="1905000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CONTEXT &amp;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Project Overview &amp; Business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2428875"/>
            <a:ext cx="359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THE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2676525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Business Challenge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028950"/>
            <a:ext cx="29718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Determine whether there is a statistically significant difference in the average fare amount charged to customers based on their payment method.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2428875"/>
            <a:ext cx="359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THE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7725" y="2676525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Applied Methodology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7725" y="3028950"/>
            <a:ext cx="29718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Exploratory Data Analysis (EDA) followed by a two-sample Welch's t-test with a one-sided hypothesis direction (greater).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1525" y="2428875"/>
            <a:ext cx="359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THE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1525" y="2676525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Business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1525" y="3028950"/>
            <a:ext cx="29718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Support strategic decision-making to drive credit card adoption and optimize fleet dispatch for higher revenue yield.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314700"/>
            <a:ext cx="10972800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428750"/>
            <a:ext cx="3511599" cy="161925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9799" y="1428750"/>
            <a:ext cx="3511599" cy="161925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89999" y="1438275"/>
            <a:ext cx="3492549" cy="1600200"/>
          </a:xfrm>
          <a:prstGeom prst="roundRect">
            <a:avLst>
              <a:gd name="adj" fmla="val 9523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42005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31470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314700"/>
            <a:ext cx="57150" cy="8953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72875" y="3314700"/>
            <a:ext cx="9525" cy="895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STATISTICAL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Key Findings from Welch's t-Test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1704975"/>
            <a:ext cx="3698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CREDIT 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1952625"/>
            <a:ext cx="3698937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4200" i="0" u="none">
                <a:solidFill>
                  <a:srgbClr val="2563EB"/>
                </a:solidFill>
                <a:latin typeface="Plus Jakarta Sans"/>
              </a:rPr>
              <a:t>$13.43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2600325"/>
            <a:ext cx="3698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Average fare per trip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024" y="1704975"/>
            <a:ext cx="3698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CASH PAYMENT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024" y="1952625"/>
            <a:ext cx="3698937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4200" i="0" u="none">
                <a:solidFill>
                  <a:srgbClr val="64748B"/>
                </a:solidFill>
                <a:latin typeface="Plus Jakarta Sans"/>
              </a:rPr>
              <a:t>$12.21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024" y="2600325"/>
            <a:ext cx="3698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Average fare per trip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699" y="1704975"/>
            <a:ext cx="3698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DIFFERENCE /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699" y="1952625"/>
            <a:ext cx="3698937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4200" i="0" u="none">
                <a:solidFill>
                  <a:srgbClr val="FFFFFF"/>
                </a:solidFill>
                <a:latin typeface="Plus Jakarta Sans"/>
              </a:rPr>
              <a:t>+$1.22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699" y="2600325"/>
            <a:ext cx="3698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DBEAFE"/>
                </a:solidFill>
                <a:latin typeface="Plus Jakarta Sans"/>
              </a:rPr>
              <a:t>+10.0% increase per completed trip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350" y="3552825"/>
            <a:ext cx="7608093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Rejection of Null Hypothesis (H₀)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350" y="3800475"/>
            <a:ext cx="7608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Sufficient statistical evidence proves that credit card payments generate significantly higher fares.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5925" y="3571875"/>
            <a:ext cx="9525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900" i="0" u="none">
                <a:solidFill>
                  <a:srgbClr val="64748B"/>
                </a:solidFill>
                <a:latin typeface="Plus Jakarta Sans"/>
              </a:rPr>
              <a:t>t-STATISTIC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5925" y="3714750"/>
            <a:ext cx="952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2563EB"/>
                </a:solidFill>
                <a:latin typeface="Plus Jakarta Sans"/>
              </a:rPr>
              <a:t>6.8668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01275" y="3571875"/>
            <a:ext cx="11430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900" i="0" u="none">
                <a:solidFill>
                  <a:srgbClr val="64748B"/>
                </a:solidFill>
                <a:latin typeface="Plus Jakarta Sans"/>
              </a:rPr>
              <a:t>p-VALUE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01275" y="3714750"/>
            <a:ext cx="1143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16A34A"/>
                </a:solidFill>
                <a:latin typeface="Plus Jakarta Sans"/>
              </a:rPr>
              <a:t>&lt; 0.0001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57925" y="2295525"/>
            <a:ext cx="5324475" cy="962025"/>
          </a:xfrm>
          <a:prstGeom prst="roundRect">
            <a:avLst>
              <a:gd name="adj" fmla="val 118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57925" y="3409950"/>
            <a:ext cx="5324475" cy="962025"/>
          </a:xfrm>
          <a:prstGeom prst="roundRect">
            <a:avLst>
              <a:gd name="adj" fmla="val 118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57925" y="4524375"/>
            <a:ext cx="5324475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57925" y="2295525"/>
            <a:ext cx="38100" cy="9620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57925" y="3409950"/>
            <a:ext cx="38100" cy="9620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57925" y="4524375"/>
            <a:ext cx="38100" cy="93345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66925"/>
            <a:ext cx="5343525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076450"/>
            <a:ext cx="5324475" cy="3600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COMPARATIVE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Customer Behavior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2486025"/>
            <a:ext cx="5705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Lower Digital Friction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2724150"/>
            <a:ext cx="50006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Card usage removes the psychological barrier of physical cash, making passengers more open to taking longer or higher-fare trips.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3600450"/>
            <a:ext cx="5705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Long-Distance Preference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3838575"/>
            <a:ext cx="50006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Passengers traveling to airports or cross-borough destinations consistently prefer digital payment methods.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4714875"/>
            <a:ext cx="57054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Trip Profitability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4924425"/>
            <a:ext cx="50006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The +$1.22 fare difference easily covers payment gateway processing fees, ensuring net positive revenue growth.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66850"/>
            <a:ext cx="3505200" cy="4857750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1466850"/>
            <a:ext cx="3505200" cy="4857750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1466850"/>
            <a:ext cx="3505200" cy="4857750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5825" y="17430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19625" y="17430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53425" y="17430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ACTION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Strategic Recommendations &amp;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1743075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2276475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Incentivize Digital Payments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2571750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Launch in-app promotions to encourage cash users to link their primary credit or debit card.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6750" y="1743075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2276475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Strategic Fleet Dispatch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2571750"/>
            <a:ext cx="3048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Optimize driver coverage in business hubs and airports where card payment concentration is highest.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0550" y="1743075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2276475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Multivariate Modeling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2571750"/>
            <a:ext cx="3048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Build a multiple linear regression model to control for confounding variables such as trip distance and time of day.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48050" y="4543425"/>
            <a:ext cx="5295900" cy="4953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1819275"/>
            <a:ext cx="533400" cy="533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987" y="1971675"/>
            <a:ext cx="200025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5375" y="2581275"/>
            <a:ext cx="100012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1" sz="3000" i="0" u="none">
                <a:solidFill>
                  <a:srgbClr val="FFFFFF"/>
                </a:solidFill>
                <a:latin typeface="Plus Jakarta Sans"/>
              </a:rPr>
              <a:t>Data-Driven Evidence Powering Strategic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26468" y="3648075"/>
            <a:ext cx="7739062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Encouraging digital payment adoption directly increases average fare value, optimizing overall platform revenue.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8968" y="4705350"/>
            <a:ext cx="5834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0A5FA"/>
                </a:solidFill>
                <a:latin typeface="Plus Jakarta Sans"/>
              </a:rPr>
              <a:t>AUTOMATIDATA PROJECT • READY FOR GITHUB &amp; KAGGLE PUBLICATION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382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00125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https://www.thebusinessresearchcompany.com/_next/image?url=https%3A%2F%2Fd1lt5802h39cn9.cloudfront.net%2Fgraphs%2Fcredit_card_global_market_report_graphname.webp&amp;w=1920&amp;q=75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352550"/>
            <a:ext cx="4464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www.thebusinessresearchcompany.com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